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2" r:id="rId3"/>
    <p:sldId id="260" r:id="rId4"/>
    <p:sldId id="261" r:id="rId5"/>
    <p:sldId id="258" r:id="rId6"/>
    <p:sldId id="257" r:id="rId7"/>
    <p:sldId id="259" r:id="rId8"/>
    <p:sldId id="26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86750-56A4-1869-F368-0656CE310E7D}" v="40" dt="2026-04-19T10:49:40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8FAA9C-6FE9-DED2-3B96-AC93927E7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37C5B6-A167-D760-4A22-E62737889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BBBEBB-ED18-3FC0-26DA-5758D3049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30C5F8-677F-174F-2974-375324D8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E01466-7132-9839-C4FE-60D0AEE2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369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27E80-F326-AB4F-3E7D-637D51C7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20499-930A-C029-A025-7D1B800B0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450829-53C0-81FA-4AE1-B169520BC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C484AB-41FA-B581-DD4F-9272C930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E1295-FB11-4D52-16D6-F506C7CD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47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70EE7-DD08-04F3-CB8A-806DCBA1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248AE03-41F7-7D13-28C0-74CBCEB9B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841F3E-DC11-DD40-7FBE-67FB3029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4A2284-2510-3EFD-5606-04CCADAC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8EED6-DA4C-D3F0-1BA5-760E39D6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51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D4FB0-66FB-AE85-1C47-4E51429E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1707B-D321-17AC-F7D6-CF5734660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4D2A7D-70AE-B9C0-6C73-0B5DB64AB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B46C9F-8293-F8FE-155E-B0A0BE18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919D77-E1AA-19EE-E6CD-4658BD532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1213E3-BC80-4879-9576-915BF2F5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66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BEF89D-FE01-15E4-092C-D558CBFC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E56C66-9387-E2FB-096C-3A78B5278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E8AA70-2D22-28D6-5E5C-A6C58835B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0BC58D-B669-8F81-74AB-A2C73D0ED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EA4F5A-009A-AABD-35F8-E31070231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21F4D2-4C6A-78B5-4885-5CB4D14C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03F333-6C07-1871-89D3-91C42F71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1B65BD-CD40-DED1-F0AD-7230420A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73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681B8-96A0-860C-334D-304F86FF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0450F0-C42B-A6E1-A03C-3E82FA4E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6FF329-0910-665E-0284-67A92D56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D2C57E-2924-43B5-655C-A9424607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80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440638-7A4C-6B1C-4E43-6D7CD35CC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E202E2-B27C-6F1A-BBAF-FE73152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DA94E0-92E8-0424-5212-34AEBBD0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74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001B5-31AA-97E2-F2A2-675200C9F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5EBE42-4C21-A8E5-ABD9-9CF9C4770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61E8D7-7F44-1ED4-FFC2-2296F6381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B3B458-F543-3557-8082-99EBEDB8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DE7043-953C-B5F2-BC64-3C4BD738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4016B8-7866-8C3A-74C2-C8506012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38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92AF5-E86F-4023-9B60-18A4ADF4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A64BA-E61E-52DD-9CD4-B2A5D6B0A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1F69AC-EB6F-E840-85F1-0010D0AA8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4BB73-177C-8D44-D6FD-CC564CA8F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FE9BDD-0059-202A-1933-2378EFFD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4F8733-D68E-1E57-8315-2CB899EB9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7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7E107-1977-2613-221B-F1CF2157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F9F793-F633-8E50-EC74-BDE5586BB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DD5D20-A76F-4D88-50D9-9DE5C296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E46CFB-F57B-868A-CF5F-B4C7B4C6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C530FC-ED26-75A1-E464-1C23454B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62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32431C-88AD-B3FE-1229-0F4EAE980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53C53B-60A1-4ED5-D544-5A3212EE6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B68BBC-018B-0810-C437-8B3E1982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D5E96-B89E-4CD6-AAAC-59D9954C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F652AD-0443-4B38-31EA-4793DD0E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643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9D0654-69A2-3F40-85A8-2013CDF788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8393" y="518173"/>
            <a:ext cx="4295579" cy="864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50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5" orient="horz" pos="867">
          <p15:clr>
            <a:srgbClr val="FBAE40"/>
          </p15:clr>
        </p15:guide>
        <p15:guide id="29" orient="horz" pos="3997">
          <p15:clr>
            <a:srgbClr val="FBAE40"/>
          </p15:clr>
        </p15:guide>
        <p15:guide id="40" pos="370">
          <p15:clr>
            <a:srgbClr val="FBAE40"/>
          </p15:clr>
        </p15:guide>
        <p15:guide id="46" pos="5541">
          <p15:clr>
            <a:srgbClr val="FBAE40"/>
          </p15:clr>
        </p15:guide>
        <p15:guide id="52" pos="7310">
          <p15:clr>
            <a:srgbClr val="FBAE40"/>
          </p15:clr>
        </p15:guide>
        <p15:guide id="53" orient="horz" pos="3861">
          <p15:clr>
            <a:srgbClr val="FBAE40"/>
          </p15:clr>
        </p15:guide>
        <p15:guide id="54" orient="horz" pos="3725">
          <p15:clr>
            <a:srgbClr val="FBAE40"/>
          </p15:clr>
        </p15:guide>
        <p15:guide id="55" orient="horz" pos="3589">
          <p15:clr>
            <a:srgbClr val="FBAE40"/>
          </p15:clr>
        </p15:guide>
        <p15:guide id="56" orient="horz" pos="3453">
          <p15:clr>
            <a:srgbClr val="FBAE40"/>
          </p15:clr>
        </p15:guide>
        <p15:guide id="57" orient="horz" pos="3317">
          <p15:clr>
            <a:srgbClr val="FBAE40"/>
          </p15:clr>
        </p15:guide>
        <p15:guide id="58" orient="horz" pos="3181">
          <p15:clr>
            <a:srgbClr val="FBAE40"/>
          </p15:clr>
        </p15:guide>
        <p15:guide id="59" orient="horz" pos="3045">
          <p15:clr>
            <a:srgbClr val="FBAE40"/>
          </p15:clr>
        </p15:guide>
        <p15:guide id="60" orient="horz" pos="2908">
          <p15:clr>
            <a:srgbClr val="FBAE40"/>
          </p15:clr>
        </p15:guide>
        <p15:guide id="61" pos="3772">
          <p15:clr>
            <a:srgbClr val="FBAE40"/>
          </p15:clr>
        </p15:guide>
        <p15:guide id="62" pos="436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7000"/>
                <a:lumOff val="23000"/>
              </a:schemeClr>
            </a:gs>
            <a:gs pos="30000">
              <a:srgbClr val="3C5F9B"/>
            </a:gs>
            <a:gs pos="7000">
              <a:srgbClr val="4D70AD"/>
            </a:gs>
            <a:gs pos="42000">
              <a:schemeClr val="accent1">
                <a:lumMod val="59000"/>
              </a:schemeClr>
            </a:gs>
          </a:gsLst>
          <a:lin ang="12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D6E191-13B6-BA47-3CD6-1F11E03D3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8E920B-4758-3C91-5FD3-BC94F388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31C09C-B73B-5831-6DFA-D20E997FC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7CFF-62B1-4B7F-BCB1-83EA0F584D40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AD3AE-1861-4B8C-A4BD-284A533C0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BE6666-D0FB-8D4B-25A1-4FD7B4AC8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8AE31-BBEF-4A70-AB6F-A298133259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3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/>
          <p:nvPr/>
        </p:nvSpPr>
        <p:spPr bwMode="auto">
          <a:xfrm>
            <a:off x="4530451" y="2755019"/>
            <a:ext cx="8402291" cy="3666681"/>
          </a:xfrm>
          <a:prstGeom prst="rect">
            <a:avLst/>
          </a:prstGeom>
        </p:spPr>
        <p:txBody>
          <a:bodyPr vert="horz" lIns="208414" tIns="71867" rIns="238062" bIns="119032" rtlCol="0" anchor="ctr">
            <a:noAutofit/>
          </a:bodyPr>
          <a:lstStyle/>
          <a:p>
            <a:pPr marL="0" marR="0" lvl="0" indent="0" algn="l" defTabSz="9127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7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496207" y="1804333"/>
            <a:ext cx="6479073" cy="170933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kumimoji="0" lang="ru-RU" sz="4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УИТА</a:t>
            </a:r>
            <a:r>
              <a:rPr lang="ru-RU" sz="4800" b="1">
                <a:solidFill>
                  <a:srgbClr val="FFFFFF"/>
                </a:solidFill>
                <a:latin typeface="Arial"/>
                <a:cs typeface="Arial"/>
              </a:rPr>
              <a:t> - Управление ИТ-архитектурой</a:t>
            </a:r>
            <a:endParaRPr lang="ru-RU" sz="4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Текст 3"/>
          <p:cNvSpPr txBox="1">
            <a:spLocks/>
          </p:cNvSpPr>
          <p:nvPr/>
        </p:nvSpPr>
        <p:spPr>
          <a:xfrm>
            <a:off x="6834002" y="4971835"/>
            <a:ext cx="7601684" cy="290507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710" rtl="0" eaLnBrk="1" fontAlgn="auto" latinLnBrk="0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ru-RU" sz="1797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Текст 4"/>
          <p:cNvSpPr txBox="1">
            <a:spLocks/>
          </p:cNvSpPr>
          <p:nvPr/>
        </p:nvSpPr>
        <p:spPr>
          <a:xfrm>
            <a:off x="508558" y="6063207"/>
            <a:ext cx="7601684" cy="378526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2710" rtl="0" eaLnBrk="1" fontAlgn="auto" latinLnBrk="0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ru-RU" sz="159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F2C22-8831-8BD2-DC54-73704B308521}"/>
              </a:ext>
            </a:extLst>
          </p:cNvPr>
          <p:cNvSpPr txBox="1"/>
          <p:nvPr/>
        </p:nvSpPr>
        <p:spPr>
          <a:xfrm>
            <a:off x="277064" y="5929304"/>
            <a:ext cx="6922389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Подготовили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: </a:t>
            </a:r>
            <a:r>
              <a:rPr lang="ru-RU" err="1">
                <a:solidFill>
                  <a:schemeClr val="bg1"/>
                </a:solidFill>
                <a:latin typeface="Arial"/>
                <a:cs typeface="Arial"/>
              </a:rPr>
              <a:t>Враженко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 Д.О., Ерхова В.А., Зенцова Е.Д.,</a:t>
            </a:r>
          </a:p>
          <a:p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Каушина А.В., Павлов НС, Хохряков АЮ</a:t>
            </a:r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5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69FDB-BA19-004D-F846-80D429C98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882"/>
            <a:ext cx="10515600" cy="1124310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Какую проблематику решает процесс?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73D5543-6B9B-99DB-3097-5C3E06345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64685"/>
              </p:ext>
            </p:extLst>
          </p:nvPr>
        </p:nvGraphicFramePr>
        <p:xfrm>
          <a:off x="838200" y="1898055"/>
          <a:ext cx="10515600" cy="4267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504597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2646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Последствия без управления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92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Разрозненность ИТ-решений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 технического долга, сложности интеграции, дублирование функций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554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прозрачных связей между бизнесом и ИТ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Несоответствие ИТ-систем реальным потребностям бизнеса, неэффективные инвестиции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58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Риски внедрения несовместимых решений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Угрозы безопасности, нестабильность инфраструктуры, рост затрат на доработку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60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Устаревание технологий без плана замены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Потеря поддержки вендоров, уязвимости, невозможность масштабирования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9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Отсутствие единых стандартов проектирования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Разнородная документация, сложности в сопровождении, ошибки при проектировании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1106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E6B810-4E97-1E68-5E4F-FC2048ADDD1F}"/>
              </a:ext>
            </a:extLst>
          </p:cNvPr>
          <p:cNvSpPr txBox="1"/>
          <p:nvPr/>
        </p:nvSpPr>
        <p:spPr>
          <a:xfrm>
            <a:off x="838200" y="1269037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>
                <a:solidFill>
                  <a:srgbClr val="F7F8FC"/>
                </a:solidFill>
                <a:effectLst/>
                <a:latin typeface="+mj-lt"/>
              </a:rPr>
              <a:t>Процесс УИТА </a:t>
            </a:r>
            <a:r>
              <a:rPr lang="ru-RU" sz="2400" i="0">
                <a:solidFill>
                  <a:srgbClr val="F7F8FC"/>
                </a:solidFill>
                <a:effectLst/>
              </a:rPr>
              <a:t>направлен</a:t>
            </a:r>
            <a:r>
              <a:rPr lang="ru-RU" sz="2400" b="0" i="0">
                <a:solidFill>
                  <a:srgbClr val="F7F8FC"/>
                </a:solidFill>
                <a:effectLst/>
                <a:latin typeface="+mj-lt"/>
              </a:rPr>
              <a:t> на решение следующих ключевых проблем:</a:t>
            </a:r>
            <a:endParaRPr lang="ru-RU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616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81484-3C33-7233-7330-536E3BC7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92" y="69603"/>
            <a:ext cx="10961016" cy="1325563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Какова его ценность для Организации и какие у него цели?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C8570B-1874-3885-30F9-D5D16AD9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035" y="1470580"/>
            <a:ext cx="11406433" cy="515426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1">
                <a:solidFill>
                  <a:srgbClr val="F7F8FC"/>
                </a:solidFill>
              </a:rPr>
              <a:t>Ценность для Организации: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Стандартизация</a:t>
            </a:r>
            <a:r>
              <a:rPr lang="ru-RU" sz="1900">
                <a:solidFill>
                  <a:srgbClr val="F7F8FC"/>
                </a:solidFill>
              </a:rPr>
              <a:t>: единые архитектурные принципы и шаблоны ускоряют разработку и снижают ошибки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Прозрачность</a:t>
            </a:r>
            <a:r>
              <a:rPr lang="ru-RU" sz="1900">
                <a:solidFill>
                  <a:srgbClr val="F7F8FC"/>
                </a:solidFill>
              </a:rPr>
              <a:t>: четкое понимание текущего и целевого состояния ИТ-ландшафта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Экономия ресурсов</a:t>
            </a:r>
            <a:r>
              <a:rPr lang="ru-RU" sz="1900">
                <a:solidFill>
                  <a:srgbClr val="F7F8FC"/>
                </a:solidFill>
              </a:rPr>
              <a:t>: снижение затрат на интеграцию, сопровождение и устранение технического долга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Безопасность и управляемость</a:t>
            </a:r>
            <a:r>
              <a:rPr lang="ru-RU" sz="1900">
                <a:solidFill>
                  <a:srgbClr val="F7F8FC"/>
                </a:solidFill>
              </a:rPr>
              <a:t>: встроенные требования ИБ в архитектурные стандарты</a:t>
            </a:r>
          </a:p>
          <a:p>
            <a:pPr lvl="1">
              <a:lnSpc>
                <a:spcPct val="100000"/>
              </a:lnSpc>
            </a:pPr>
            <a:r>
              <a:rPr lang="ru-RU" sz="1900" b="1">
                <a:solidFill>
                  <a:srgbClr val="F7F8FC"/>
                </a:solidFill>
              </a:rPr>
              <a:t>Стратегическая синхронизация</a:t>
            </a:r>
            <a:r>
              <a:rPr lang="ru-RU" sz="1900">
                <a:solidFill>
                  <a:srgbClr val="F7F8FC"/>
                </a:solidFill>
              </a:rPr>
              <a:t>: ИТ-развитие согласовано с бизнес-стратегией и цифровой трансформацией</a:t>
            </a:r>
          </a:p>
          <a:p>
            <a:pPr>
              <a:lnSpc>
                <a:spcPct val="100000"/>
              </a:lnSpc>
              <a:buNone/>
            </a:pPr>
            <a:r>
              <a:rPr lang="ru-RU" sz="2400" b="1">
                <a:solidFill>
                  <a:srgbClr val="F7F8FC"/>
                </a:solidFill>
              </a:rPr>
              <a:t>Цели процесса:</a:t>
            </a:r>
          </a:p>
          <a:p>
            <a:pPr>
              <a:lnSpc>
                <a:spcPct val="100000"/>
              </a:lnSpc>
              <a:buNone/>
            </a:pPr>
            <a:r>
              <a:rPr lang="en-US" sz="2000" b="1">
                <a:solidFill>
                  <a:srgbClr val="F7F8FC"/>
                </a:solidFill>
              </a:rPr>
              <a:t>	</a:t>
            </a:r>
            <a:r>
              <a:rPr lang="ru-RU" sz="2000" b="1">
                <a:solidFill>
                  <a:srgbClr val="F7F8FC"/>
                </a:solidFill>
              </a:rPr>
              <a:t>Основная цель</a:t>
            </a:r>
            <a:r>
              <a:rPr lang="en-US" sz="2000" b="1">
                <a:solidFill>
                  <a:srgbClr val="F7F8FC"/>
                </a:solidFill>
              </a:rPr>
              <a:t> -</a:t>
            </a:r>
            <a:r>
              <a:rPr lang="en-US" sz="1900">
                <a:solidFill>
                  <a:schemeClr val="bg1"/>
                </a:solidFill>
              </a:rPr>
              <a:t> </a:t>
            </a:r>
            <a:r>
              <a:rPr lang="ru-RU" sz="1900">
                <a:solidFill>
                  <a:schemeClr val="bg1"/>
                </a:solidFill>
              </a:rPr>
              <a:t>обеспечение эффективного, безопасного и масштабируемого ИТ-ландшафта, поддерживающего бизнес-процессы.</a:t>
            </a:r>
          </a:p>
          <a:p>
            <a:pPr>
              <a:lnSpc>
                <a:spcPct val="100000"/>
              </a:lnSpc>
              <a:buNone/>
            </a:pPr>
            <a:r>
              <a:rPr lang="ru-RU" sz="2000" b="1">
                <a:solidFill>
                  <a:srgbClr val="F7F8FC"/>
                </a:solidFill>
              </a:rPr>
              <a:t>	Цели второго уровня:</a:t>
            </a:r>
            <a:endParaRPr lang="ru-RU" sz="2000">
              <a:solidFill>
                <a:srgbClr val="F7F8FC"/>
              </a:solidFill>
            </a:endParaRP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Стандартизация технологий и снижение разнообразия несовместимых решений (уменьшение технического долга)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Обеспечение прозрачности взаимосвязей между бизнес-процессами и ИТ-системами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Своевременное выявление устаревающих технологий и планирование их замены</a:t>
            </a:r>
          </a:p>
          <a:p>
            <a:pPr lvl="1">
              <a:lnSpc>
                <a:spcPct val="100000"/>
              </a:lnSpc>
              <a:buFont typeface="+mj-lt"/>
              <a:buAutoNum type="arabicPeriod"/>
            </a:pPr>
            <a:r>
              <a:rPr lang="ru-RU" sz="1900">
                <a:solidFill>
                  <a:srgbClr val="F7F8FC"/>
                </a:solidFill>
              </a:rPr>
              <a:t>Контроль соответствия новых ИТ-проектов утвержденным архитектурным стандартам</a:t>
            </a:r>
          </a:p>
          <a:p>
            <a:endParaRPr lang="ru-RU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9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10FCF-529F-6323-0458-EEFA6326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3201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Чью деятельность охватывает процесс?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0162027-4A8E-6C66-AE03-571281270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602915"/>
              </p:ext>
            </p:extLst>
          </p:nvPr>
        </p:nvGraphicFramePr>
        <p:xfrm>
          <a:off x="1628108" y="996067"/>
          <a:ext cx="8935784" cy="5589856"/>
        </p:xfrm>
        <a:graphic>
          <a:graphicData uri="http://schemas.openxmlformats.org/drawingml/2006/table">
            <a:tbl>
              <a:tblPr/>
              <a:tblGrid>
                <a:gridCol w="4467892">
                  <a:extLst>
                    <a:ext uri="{9D8B030D-6E8A-4147-A177-3AD203B41FA5}">
                      <a16:colId xmlns:a16="http://schemas.microsoft.com/office/drawing/2014/main" val="2142157813"/>
                    </a:ext>
                  </a:extLst>
                </a:gridCol>
                <a:gridCol w="4467892">
                  <a:extLst>
                    <a:ext uri="{9D8B030D-6E8A-4147-A177-3AD203B41FA5}">
                      <a16:colId xmlns:a16="http://schemas.microsoft.com/office/drawing/2014/main" val="1183250517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 / Участник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 в процессе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99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Владелец процесса</a:t>
                      </a:r>
                      <a:b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Директор Департамента Инфраструктурных систем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Организация работ, принятие решений по развитию, контроль результативности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890447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Куратор процесса</a:t>
                      </a:r>
                      <a:b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Зам. Гендиректора по информационной архитектуре и связи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Общий контроль, интеграция со смежными процессами, утверждение планов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24728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Исполнитель</a:t>
                      </a:r>
                      <a:b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Подразделение управления ИТ-архитектурой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стандартов, проведение экспертиз, ведение репозитория, отчетность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8472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Владельцы бизнес-процессов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требований, валидация архитектурных решений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4170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Департамент экономической безопасности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Участие в экспертизе, включение требований ИБ в стандарты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8564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Управление цифровой трансформации (УЦТ)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Синхронизация архитектурных планов со стратегией цифровизации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24575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ИТ-подразделения и подрядчики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Реализация решений в соответствии с архитектурными требованиями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09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113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FB1AA-2EEF-E892-E80A-9CA80121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0602"/>
            <a:ext cx="10515600" cy="1218577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FAD (Диаграмма окружения процесса)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AF00055-658A-8261-4424-0146B5355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083" y="1164952"/>
            <a:ext cx="3949831" cy="5478751"/>
          </a:xfrm>
          <a:prstGeom prst="roundRect">
            <a:avLst>
              <a:gd name="adj" fmla="val 10939"/>
            </a:avLst>
          </a:prstGeom>
        </p:spPr>
      </p:pic>
    </p:spTree>
    <p:extLst>
      <p:ext uri="{BB962C8B-B14F-4D97-AF65-F5344CB8AC3E}">
        <p14:creationId xmlns:p14="http://schemas.microsoft.com/office/powerpoint/2010/main" val="323288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6064B-1F32-178E-931F-F8587666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VAD (Диаграмма декомпозиции процесса)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0D9A10-C7D3-ADA0-7821-557FE2CB1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14"/>
          <a:stretch>
            <a:fillRect/>
          </a:stretch>
        </p:blipFill>
        <p:spPr>
          <a:xfrm>
            <a:off x="694892" y="1583703"/>
            <a:ext cx="10802215" cy="3525624"/>
          </a:xfrm>
          <a:prstGeom prst="roundRect">
            <a:avLst>
              <a:gd name="adj" fmla="val 6548"/>
            </a:avLst>
          </a:prstGeom>
        </p:spPr>
      </p:pic>
    </p:spTree>
    <p:extLst>
      <p:ext uri="{BB962C8B-B14F-4D97-AF65-F5344CB8AC3E}">
        <p14:creationId xmlns:p14="http://schemas.microsoft.com/office/powerpoint/2010/main" val="315821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0EC16-ABFF-EE4B-F442-B3D92D44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90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EPC (Диаграммы событийной цепочки подпроцесса)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6DB950-E76C-743D-20AC-1D818649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4" y="1494463"/>
            <a:ext cx="2956305" cy="500170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8600B5D-88C3-09D0-F076-46C1229E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610" y="1001881"/>
            <a:ext cx="2753109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7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B8632-9E48-061C-F468-BE72363E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120028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Итоги</a:t>
            </a:r>
            <a:endParaRPr lang="ru-RU" sz="4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E760BE-1525-88A0-190C-61975EB7D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161" y="1445591"/>
            <a:ext cx="10515600" cy="4351338"/>
          </a:xfrm>
        </p:spPr>
        <p:txBody>
          <a:bodyPr>
            <a:normAutofit/>
          </a:bodyPr>
          <a:lstStyle/>
          <a:p>
            <a:r>
              <a:rPr lang="ru-RU" sz="3200">
                <a:solidFill>
                  <a:schemeClr val="bg1"/>
                </a:solidFill>
                <a:cs typeface="Times New Roman" panose="02020603050405020304" pitchFamily="18" charset="0"/>
              </a:rPr>
              <a:t>Процесс УИТА обеспечивает системный и контролируемый подход к развитию ИТ-ландшафта</a:t>
            </a:r>
          </a:p>
          <a:p>
            <a:r>
              <a:rPr lang="ru-RU" sz="3200">
                <a:solidFill>
                  <a:schemeClr val="bg1"/>
                </a:solidFill>
                <a:cs typeface="Times New Roman" panose="02020603050405020304" pitchFamily="18" charset="0"/>
              </a:rPr>
              <a:t>Архитектура синхронизирована с бизнес-стратегией, ИБ и цифровой трансформацией</a:t>
            </a:r>
          </a:p>
          <a:p>
            <a:r>
              <a:rPr lang="ru-RU" sz="3200">
                <a:solidFill>
                  <a:schemeClr val="bg1"/>
                </a:solidFill>
                <a:cs typeface="Times New Roman" panose="02020603050405020304" pitchFamily="18" charset="0"/>
              </a:rPr>
              <a:t>Внедрены прозрачные КПЭ, управление рисками и механизм непрерывного улучшения</a:t>
            </a:r>
          </a:p>
        </p:txBody>
      </p:sp>
    </p:spTree>
    <p:extLst>
      <p:ext uri="{BB962C8B-B14F-4D97-AF65-F5344CB8AC3E}">
        <p14:creationId xmlns:p14="http://schemas.microsoft.com/office/powerpoint/2010/main" val="17001007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8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Презентация PowerPoint</vt:lpstr>
      <vt:lpstr>Какую проблематику решает процесс?</vt:lpstr>
      <vt:lpstr>Какова его ценность для Организации и какие у него цели?</vt:lpstr>
      <vt:lpstr>Чью деятельность охватывает процесс?</vt:lpstr>
      <vt:lpstr>FAD (Диаграмма окружения процесса)</vt:lpstr>
      <vt:lpstr>VAD (Диаграмма декомпозиции процесса)</vt:lpstr>
      <vt:lpstr>EPC (Диаграммы событийной цепочки подпроцесса)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 Khokhriakov</dc:creator>
  <cp:revision>2</cp:revision>
  <dcterms:created xsi:type="dcterms:W3CDTF">2026-04-13T10:52:32Z</dcterms:created>
  <dcterms:modified xsi:type="dcterms:W3CDTF">2026-04-20T10:09:16Z</dcterms:modified>
</cp:coreProperties>
</file>