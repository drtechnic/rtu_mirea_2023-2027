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media/image2.tif" ContentType="image/tiff"/>
  <Override PartName="/ppt/media/image5.tif" ContentType="image/tiff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6" r:id="rId4"/>
    <p:sldMasterId id="2147483659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7.xml"/><Relationship Id="rId5" Type="http://schemas.openxmlformats.org/officeDocument/2006/relationships/slideMaster" Target="slideMasters/slideMaster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tif"/><Relationship Id="rId4" Type="http://schemas.openxmlformats.org/officeDocument/2006/relationships/image" Target="../media/image3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tif"/><Relationship Id="rId4" Type="http://schemas.openxmlformats.org/officeDocument/2006/relationships/image" Target="../media/image4.png"/><Relationship Id="rId5" Type="http://schemas.openxmlformats.org/officeDocument/2006/relationships/image" Target="../media/image3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tif"/><Relationship Id="rId3" Type="http://schemas.openxmlformats.org/officeDocument/2006/relationships/image" Target="../media/image4.png"/><Relationship Id="rId4" Type="http://schemas.openxmlformats.org/officeDocument/2006/relationships/image" Target="../media/image3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ключительный слайд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/>
          <p:cNvPicPr/>
          <p:nvPr/>
        </p:nvPicPr>
        <p:blipFill>
          <a:blip r:embed="rId2"/>
          <a:stretch/>
        </p:blipFill>
        <p:spPr>
          <a:xfrm>
            <a:off x="0" y="-69480"/>
            <a:ext cx="10076760" cy="567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Рисунок 1"/>
          <p:cNvPicPr/>
          <p:nvPr/>
        </p:nvPicPr>
        <p:blipFill>
          <a:blip r:embed="rId3"/>
          <a:stretch/>
        </p:blipFill>
        <p:spPr>
          <a:xfrm>
            <a:off x="609840" y="469800"/>
            <a:ext cx="2723760" cy="81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Рисунок 1"/>
          <p:cNvPicPr/>
          <p:nvPr/>
        </p:nvPicPr>
        <p:blipFill>
          <a:blip r:embed="rId4"/>
          <a:stretch/>
        </p:blipFill>
        <p:spPr>
          <a:xfrm>
            <a:off x="0" y="0"/>
            <a:ext cx="10076760" cy="566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68760" cy="94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8760" cy="328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/>
          <p:nvPr/>
        </p:nvPicPr>
        <p:blipFill>
          <a:blip r:embed="rId2"/>
          <a:stretch/>
        </p:blipFill>
        <p:spPr>
          <a:xfrm>
            <a:off x="0" y="-69480"/>
            <a:ext cx="10076760" cy="567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Рисунок 1"/>
          <p:cNvPicPr/>
          <p:nvPr/>
        </p:nvPicPr>
        <p:blipFill>
          <a:blip r:embed="rId3"/>
          <a:stretch/>
        </p:blipFill>
        <p:spPr>
          <a:xfrm>
            <a:off x="609840" y="469800"/>
            <a:ext cx="2723760" cy="81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Рисунок 4"/>
          <p:cNvPicPr/>
          <p:nvPr/>
        </p:nvPicPr>
        <p:blipFill>
          <a:blip r:embed="rId4"/>
          <a:stretch/>
        </p:blipFill>
        <p:spPr>
          <a:xfrm>
            <a:off x="494640" y="428400"/>
            <a:ext cx="3548160" cy="71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Рисунок 5"/>
          <p:cNvPicPr/>
          <p:nvPr/>
        </p:nvPicPr>
        <p:blipFill>
          <a:blip r:embed="rId5"/>
          <a:stretch/>
        </p:blipFill>
        <p:spPr>
          <a:xfrm>
            <a:off x="0" y="0"/>
            <a:ext cx="10076760" cy="566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68760" cy="94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8760" cy="328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екст картинка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2240" cy="15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lide Number Placeholder 5"/>
          <p:cNvSpPr/>
          <p:nvPr/>
        </p:nvSpPr>
        <p:spPr>
          <a:xfrm>
            <a:off x="9024480" y="5043240"/>
            <a:ext cx="61632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94624DC8-1168-4A9D-AC7B-E0534A5F3DBD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9160" cy="36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2240" cy="271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40160" cy="270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/>
          <p:nvPr/>
        </p:nvPicPr>
        <p:blipFill>
          <a:blip r:embed="rId2"/>
          <a:stretch/>
        </p:blipFill>
        <p:spPr>
          <a:xfrm>
            <a:off x="8492400" y="410040"/>
            <a:ext cx="1171080" cy="347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Рисунок 4"/>
          <p:cNvPicPr/>
          <p:nvPr/>
        </p:nvPicPr>
        <p:blipFill>
          <a:blip r:embed="rId3"/>
          <a:stretch/>
        </p:blipFill>
        <p:spPr>
          <a:xfrm>
            <a:off x="494640" y="428400"/>
            <a:ext cx="3548160" cy="711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Рисунок 5"/>
          <p:cNvPicPr/>
          <p:nvPr/>
        </p:nvPicPr>
        <p:blipFill>
          <a:blip r:embed="rId4"/>
          <a:stretch/>
        </p:blipFill>
        <p:spPr>
          <a:xfrm>
            <a:off x="0" y="0"/>
            <a:ext cx="10076760" cy="566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68760" cy="943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8760" cy="328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екст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2240" cy="15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lide Number Placeholder 5"/>
          <p:cNvSpPr/>
          <p:nvPr/>
        </p:nvSpPr>
        <p:spPr>
          <a:xfrm>
            <a:off x="9024480" y="5043240"/>
            <a:ext cx="61632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F2A618F4-54C6-4872-8719-BC4856781C2E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9160" cy="36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2240" cy="135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40160" cy="135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594720" y="3100320"/>
            <a:ext cx="4422240" cy="135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body"/>
          </p:nvPr>
        </p:nvSpPr>
        <p:spPr>
          <a:xfrm>
            <a:off x="5300640" y="3100320"/>
            <a:ext cx="4340160" cy="135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2_Заголовок и объект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46400" y="0"/>
            <a:ext cx="9070560" cy="870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60" y="0"/>
            <a:ext cx="4061772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иаграммы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2240" cy="201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40160" cy="201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2240" cy="15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lide Number Placeholder 5"/>
          <p:cNvSpPr/>
          <p:nvPr/>
        </p:nvSpPr>
        <p:spPr>
          <a:xfrm>
            <a:off x="9024480" y="5043240"/>
            <a:ext cx="61632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0A0BC0AE-391E-4B5A-A04C-058B30DD0F7F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9160" cy="36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594720" y="3835800"/>
            <a:ext cx="4422240" cy="83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body"/>
          </p:nvPr>
        </p:nvSpPr>
        <p:spPr>
          <a:xfrm>
            <a:off x="5300640" y="3831840"/>
            <a:ext cx="4340160" cy="83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иаграммы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2240" cy="308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Контент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40160" cy="308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Контент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2240" cy="15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lide Number Placeholder 5"/>
          <p:cNvSpPr/>
          <p:nvPr/>
        </p:nvSpPr>
        <p:spPr>
          <a:xfrm>
            <a:off x="9024480" y="5043240"/>
            <a:ext cx="61632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92AB686F-A190-4DD1-9E5E-868B7CD007B9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9160" cy="36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екст диаграм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  <p:sldLayoutId id="2147483653" r:id="rId3"/>
    <p:sldLayoutId id="2147483654" r:id="rId4"/>
    <p:sldLayoutId id="2147483655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  <p:sldLayoutId id="2147483658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lide Number Placeholder 5"/>
          <p:cNvSpPr/>
          <p:nvPr/>
        </p:nvSpPr>
        <p:spPr>
          <a:xfrm>
            <a:off x="9024480" y="5043240"/>
            <a:ext cx="61632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1037613D-E108-45F9-9152-316C0B109F14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Заголовок 1"/>
          <p:cNvSpPr/>
          <p:nvPr/>
        </p:nvSpPr>
        <p:spPr>
          <a:xfrm>
            <a:off x="3745080" y="2278080"/>
            <a:ext cx="6943680" cy="30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6240" rIns="178560" tIns="54000" bIns="89280" anchor="ctr">
            <a:noAutofit/>
          </a:bodyPr>
          <a:p>
            <a:pPr defTabSz="684360">
              <a:lnSpc>
                <a:spcPct val="100000"/>
              </a:lnSpc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Заголовок 1"/>
          <p:cNvSpPr/>
          <p:nvPr/>
        </p:nvSpPr>
        <p:spPr>
          <a:xfrm>
            <a:off x="198360" y="2180520"/>
            <a:ext cx="6666480" cy="13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2600">
              <a:lnSpc>
                <a:spcPct val="90000"/>
              </a:lnSpc>
            </a:pPr>
            <a:r>
              <a:rPr lang="ru-RU" sz="259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АСУ П по подбору и продаже мультимедиа контента</a:t>
            </a:r>
            <a:endParaRPr lang="ru-RU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Текст 3"/>
          <p:cNvSpPr/>
          <p:nvPr/>
        </p:nvSpPr>
        <p:spPr>
          <a:xfrm>
            <a:off x="5650200" y="4109400"/>
            <a:ext cx="62816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684360">
              <a:lnSpc>
                <a:spcPct val="90000"/>
              </a:lnSpc>
              <a:spcBef>
                <a:spcPts val="748"/>
              </a:spcBef>
              <a:tabLst>
                <a:tab algn="l" pos="0"/>
              </a:tabLst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Заголовок 3"/>
          <p:cNvSpPr/>
          <p:nvPr/>
        </p:nvSpPr>
        <p:spPr>
          <a:xfrm>
            <a:off x="198360" y="4559400"/>
            <a:ext cx="3370320" cy="79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2600">
              <a:lnSpc>
                <a:spcPct val="90000"/>
              </a:lnSpc>
            </a:pPr>
            <a:r>
              <a:rPr lang="ru-RU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Группа: ИКБО-50-23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2600">
              <a:lnSpc>
                <a:spcPct val="90000"/>
              </a:lnSpc>
            </a:pPr>
            <a:r>
              <a:rPr lang="ru-RU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Студент: Враженко Д.О.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2600">
              <a:lnSpc>
                <a:spcPct val="9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Заголовок 4"/>
          <p:cNvSpPr/>
          <p:nvPr/>
        </p:nvSpPr>
        <p:spPr>
          <a:xfrm>
            <a:off x="3948480" y="5306040"/>
            <a:ext cx="2179800" cy="43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pPr algn="ctr" defTabSz="912600">
              <a:lnSpc>
                <a:spcPct val="90000"/>
              </a:lnSpc>
            </a:pPr>
            <a:r>
              <a:rPr lang="ru-RU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г. Москва, 2026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Заголовок 2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функциональной структуры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Постановка задачи и предметная область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Прямоугольник 11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178560" y="1156320"/>
            <a:ext cx="972036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Название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АСУ «Семантический подборщик»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Автоматизированный подбор мультимедийного контента по естественно-языковым запросам пользователей с использованием корпоративной нейросети.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Проблемы существующего процесса (AS-IS):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ручной подбор контента менеджером;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только по ключевым словам;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отсутствие учёта контекста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невозможность автоматического поиска внешнего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низкая скорость обработки обращений.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Участок автоматизации: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Процесс интеллектуальной обработки запросов пользователей и подбора мультимедийного контента.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Тип проектируемой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СППР (система поддержки принятия решений);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CRM-элементы;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интеллектуальная АСУ с применением 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Заголовок 64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функциональной структуры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Принцип работы и структура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Прямоугольник 1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178560" y="1156320"/>
            <a:ext cx="9720360" cy="36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Принцип работы системы (TO-BE):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Пользователь вводит запрос в свободной форме.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Нейросеть выполняет семантический анализ.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Запрос преобразуется в формализованные параметры.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Выполняется поиск по внутренней базе.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При необходимости инициируется внешний поиск.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Пользователь получает рекомендации.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Система учитывает историю взаимодействия.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подсистемы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взаимодействия с пользователем;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семантического анализа;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управления контентом;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внешней интеграции;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Рекомендательная подсистема;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хранения истории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Акцент на безопасность: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использование корпоративной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хранение данных на серверах предприятия;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разграничение прав доступа;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пользовательской истории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соблюдение ФЗ-152 «О персональных данных».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"/>
          <p:cNvPicPr/>
          <p:nvPr/>
        </p:nvPicPr>
        <p:blipFill>
          <a:blip r:embed="rId1"/>
          <a:stretch/>
        </p:blipFill>
        <p:spPr>
          <a:xfrm>
            <a:off x="6300000" y="985320"/>
            <a:ext cx="1812600" cy="387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Заголовок 65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функциональной структуры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Пользователи и жизненный цикл проектирования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Прямоугольник 3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178560" y="1156320"/>
            <a:ext cx="9720360" cy="32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Пользователи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Пользователь платформы;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Контент-менеджер;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Администратор системы / ML-инженер;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Руководитель отдела контента.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Этапы проектирования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Формирование требований;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Разработка концепции;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Подготовка технического задания;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Техническое проектирование;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Разработка и обучение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и внедрение;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Сопровождение и дообучение.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Нормативная база: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ФЗ №152 «О персональных данных»;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ГК РФ (авторские права);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политика конфиденциальности;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регламенты защиты нейросетевой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правила работы с API внешних сервисов.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Заголовок 6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Формирование требований к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Функциональные требования к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Прямоугольник 6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178560" y="1156320"/>
            <a:ext cx="972036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функциональные требования: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Подсистема взаимодействия: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обработка текстовых запросов на естественном языке;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голосового ввода;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отображение результатов в виде карточек;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фильтрация и сортировка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истории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система избранного.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Подсистема семантического анализа: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распознавание сущностей и интентов;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анализ контекста диалога;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уточняющих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круглосуточная работа нейросети.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Подсистема поиска и рекомендаций: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полнотекстовый поиск;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мультиформатный подбор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поиск внешних источников через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ранжирование результатов;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персонализация рекомендаций.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Управление системой: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логирование действий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лицензий и прав доступа;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автоматическое создание задач контент-менеджеру.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Заголовок 73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Формирование требований к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Нефункциональные требования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Прямоугольник 7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78560" y="1156320"/>
            <a:ext cx="972036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Производительность и надежность: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время ответа системы ≤ 2 секунд;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доступность системы не ниже 99.5%;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не менее 1000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автоматическое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восстановление после сбоя ≤ 1 часа.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Архитектурные требования: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микросервисная архитектура;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контейнеризация сервисов (Docker);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стандартизированные API (REST/gRPC);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централизованное логирование.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Требования к интерфейсу: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адаптивный дизайн;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интуитивно понятный интерфейс;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мобильных устройств;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понятные сообщения об ошибках;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светлая и тёмная темы оформления.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Заголовок 74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Формирование требований к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Требования информационной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Прямоугольник 9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78560" y="1156320"/>
            <a:ext cx="972036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Меры обеспечения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Защита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использование HTTPS/TLS 1.3;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персональных данных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локализация хранения данных на территории РФ;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обезличивание логов для аналитики.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Контроль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двухфакторная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ограничение доступа к модели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инфраструктуры от несанкционированного доступа.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Нормативная база: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ФЗ-152 «О персональных данных»;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ФЗ-242 о локализации ПДн;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ISO/IEC 27001;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ГОСТ 34.601-90;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рекомендации ФСТЭК России.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Заголовок 75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и UML-моделирование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системы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Прямоугольник 12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78560" y="1156320"/>
            <a:ext cx="972036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модули АСУ «Семантический подборщик»: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1. Интерфейс взаимодействия: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ввод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просмотр результатов;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история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избранное;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профилем.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Управление контентом: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каталогом;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импорт метаданных;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работа с лицензиями;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интеграция с внешними источниками;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модерация контента.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Аналитика и администрирование: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мониторинг системы;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ролями;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анализ логов;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обучение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формирование отчётов.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398920" y="1156680"/>
            <a:ext cx="97203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Пользователи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клиент;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гость;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контент-менеджер;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администратор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руководитель отдела.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Заголовок 77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и UML-моделирование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Интерфейсные и внутрисистемные функции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Прямоугольник 16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78560" y="1156320"/>
            <a:ext cx="9720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Пример взаимодействия функций: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"/>
          <p:cNvGraphicFramePr/>
          <p:nvPr/>
        </p:nvGraphicFramePr>
        <p:xfrm>
          <a:off x="180000" y="1440000"/>
          <a:ext cx="4419360" cy="2161080"/>
        </p:xfrm>
        <a:graphic>
          <a:graphicData uri="http://schemas.openxmlformats.org/drawingml/2006/table">
            <a:tbl>
              <a:tblPr/>
              <a:tblGrid>
                <a:gridCol w="1801440"/>
                <a:gridCol w="261828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Интерфейсная функция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Внутрисистемная функция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Ввод текстового запроса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Передача данных в NLP-модуль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Голосовой ввод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Конвертация речи в текст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Фильтрация выдачи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Повторное ранжирование результатов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Просмотр истории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Запрос к журналу запросов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Добавление контента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SQL INSERT/UPDATE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Запуск внешнего поиска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ETL + API-запрос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Дообучение нейросети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Запуск ML-оркестратора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Управление ролями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CRUD-операции в БД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7" name=""/>
          <p:cNvSpPr/>
          <p:nvPr/>
        </p:nvSpPr>
        <p:spPr>
          <a:xfrm>
            <a:off x="178920" y="3676680"/>
            <a:ext cx="97203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архитектуры: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разделение пользовательских и системных функций;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микросервисный подход;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NLP-модуля;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централизованное логирование;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API-взаимодействие между компонентами.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Заголовок 76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и UML-моделирование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UML Use Case и безопасность системы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Прямоугольник 14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78560" y="1156320"/>
            <a:ext cx="9720360" cy="32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UML-моделирование взаимодействия: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Диаграммы вариантов использования описывают: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действия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системные процессы;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связи между модулями;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отношения &lt;&lt;include&gt;&gt; и &lt;&lt;extend&gt;&gt;.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Ключевые сценарии: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интеллектуальный анализ запроса;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импорт внешних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управление пользователями;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мониторинг состояния системы.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Элементы безопасности в архитектуре: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разграничение ролей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аудит действий;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API-ключей;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обезличивание логов;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доступа к NLP-модели;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мониторинг доступности сервисов.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"/>
          <p:cNvPicPr/>
          <p:nvPr/>
        </p:nvPicPr>
        <p:blipFill>
          <a:blip r:embed="rId1"/>
          <a:stretch/>
        </p:blipFill>
        <p:spPr>
          <a:xfrm>
            <a:off x="7579440" y="1944000"/>
            <a:ext cx="2463120" cy="2805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"/>
          <p:cNvPicPr/>
          <p:nvPr/>
        </p:nvPicPr>
        <p:blipFill>
          <a:blip r:embed="rId2"/>
          <a:stretch/>
        </p:blipFill>
        <p:spPr>
          <a:xfrm>
            <a:off x="5328000" y="2812680"/>
            <a:ext cx="2517840" cy="2369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"/>
          <p:cNvPicPr/>
          <p:nvPr/>
        </p:nvPicPr>
        <p:blipFill>
          <a:blip r:embed="rId3"/>
          <a:stretch/>
        </p:blipFill>
        <p:spPr>
          <a:xfrm>
            <a:off x="3096000" y="1519200"/>
            <a:ext cx="2481840" cy="279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Заголовок 78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UML-моделирование процессов и структуры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Диаграммы последовательности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Прямоугольник 17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3960000" y="3161520"/>
            <a:ext cx="3239280" cy="2034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"/>
          <p:cNvPicPr/>
          <p:nvPr/>
        </p:nvPicPr>
        <p:blipFill>
          <a:blip r:embed="rId2"/>
          <a:stretch/>
        </p:blipFill>
        <p:spPr>
          <a:xfrm>
            <a:off x="180000" y="1148040"/>
            <a:ext cx="3777840" cy="227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"/>
          <p:cNvPicPr/>
          <p:nvPr/>
        </p:nvPicPr>
        <p:blipFill>
          <a:blip r:embed="rId3"/>
          <a:stretch/>
        </p:blipFill>
        <p:spPr>
          <a:xfrm>
            <a:off x="6876000" y="910440"/>
            <a:ext cx="3129840" cy="2702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Заголовок 79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UML-моделирование процессов и структуры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Диаграмма классов и структура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Прямоугольник 19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2430360" y="1046160"/>
            <a:ext cx="5217840" cy="3936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Заголовок 81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программно-аппаратной платформы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системы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Прямоугольник 21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178560" y="1156320"/>
            <a:ext cx="972036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Серверная архитектура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балансировщики нагрузки;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веб-серверы и backend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кластер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Elasticsearch-кластер;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GPU-серверы NLP;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объектное хранилище мультимедиа;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система логирования ELK;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серверы резервного копирования.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Сетевое обеспечение: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высокоскоростная сеть 10–100 Гбит/с;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отказоустойчивые коммутаторы;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NGFW /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VPN-доступ;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система бесперебойного питания.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Архитектурные особенности: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горизонтальное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кластеризация сервисов;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распределённое хранение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высокой доступности;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резервирование критических компонентов.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Заголовок 82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программно-аппаратной платформы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Программная платформа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Прямоугольник 24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178560" y="1156320"/>
            <a:ext cx="972036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Основной технологический стек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 и 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Linux (Ubuntu Server / Rocky Linux);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Docker;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Kubernetes;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Nginx;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FastAPI.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Хранение и обработка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Redis;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MinIO;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RabbitMQ.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Искусственный интеллект и NLP: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PyTorch;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Hugging Face Transformers;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RuBERT;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Web Speech API / Vosk.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Мониторинг и DevOps: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ELK Stack;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Prometheus + Grafana;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GitLab CI / Jenkins.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Заголовок 83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программно-аппаратной платформы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Информационная безопасность и отказоустойчивость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Прямоугольник 25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178560" y="1156320"/>
            <a:ext cx="972036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Средства обеспечения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Keycloak;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OAuth2 / OpenID Connect;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двухфакторная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RBAC-модель ролей.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инфраструктуры: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TLS/HTTPS;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API Gateway (Kong / Traefik);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Firewall и IDS/IPS;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сегментация 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Надёжность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резервное копирование;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репликация БД;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автоматическое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контейнерная оркестрация;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централизованный мониторинг.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Заголовок 84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программного модуля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технологии реализации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Прямоугольник 27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178560" y="1156320"/>
            <a:ext cx="972036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Разрабатываемая функция: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Автоматическое дообучение корпоративной NLP-модели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Функции модуля: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анализ новых пользовательских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формирование обучающих датасетов;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запуск fine-tuning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обновление версии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логирование результатов обучения.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языков программирования: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4" name=""/>
          <p:cNvGraphicFramePr/>
          <p:nvPr/>
        </p:nvGraphicFramePr>
        <p:xfrm>
          <a:off x="270360" y="2781360"/>
          <a:ext cx="3455640" cy="1391400"/>
        </p:xfrm>
        <a:graphic>
          <a:graphicData uri="http://schemas.openxmlformats.org/drawingml/2006/table">
            <a:tbl>
              <a:tblPr/>
              <a:tblGrid>
                <a:gridCol w="514800"/>
                <a:gridCol w="1531440"/>
                <a:gridCol w="140976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Язык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Преимущества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Недостатки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Python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ML/NLP-экосистема, PyTorch, Transformers, высокая скорость разработки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Ниже производительность CPU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C++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Максимальная производительность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Сложность разработки ML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"/>
          <p:cNvSpPr/>
          <p:nvPr/>
        </p:nvSpPr>
        <p:spPr>
          <a:xfrm>
            <a:off x="5184000" y="1156320"/>
            <a:ext cx="9720360" cy="14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Выбранный язык: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 3.11+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стандарт индустрии ML/NLP;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GPU;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с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совместимость с микросервисной архитектурой;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большое количество библиотек 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Заголовок 85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программного модуля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IDE и библиотек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Прямоугольник 29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178560" y="1156320"/>
            <a:ext cx="9720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IDE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180000" y="2524320"/>
            <a:ext cx="9898200" cy="14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Выбранная среда разработки: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PyCharm Community Edition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Преимущества: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интеллектуальное редактирование;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отладка Python;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с Git;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Jupyter;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работа с виртуальными окружениями.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"/>
          <p:cNvGraphicFramePr/>
          <p:nvPr/>
        </p:nvGraphicFramePr>
        <p:xfrm>
          <a:off x="275400" y="1400400"/>
          <a:ext cx="2300040" cy="1162080"/>
        </p:xfrm>
        <a:graphic>
          <a:graphicData uri="http://schemas.openxmlformats.org/drawingml/2006/table">
            <a:tbl>
              <a:tblPr/>
              <a:tblGrid>
                <a:gridCol w="905760"/>
                <a:gridCol w="139464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IDE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Особенности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PyCharm Community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Лучшая поддержка Python и ML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Visual Studio Community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Мощная C++ среда, но избыточна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1" name=""/>
          <p:cNvSpPr/>
          <p:nvPr/>
        </p:nvSpPr>
        <p:spPr>
          <a:xfrm>
            <a:off x="4860000" y="1156680"/>
            <a:ext cx="989820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Использованные библиотеки: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Машинное обучение: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PyTorch;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Hugging Face Transformers;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Datasets.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SQLAlchemy;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Pydantic;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APScheduler / Celery;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MLflow.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Назначение библиотек: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обучение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валидация конфигураций;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планирование задач;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версиями моделей;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интеграция с PostgreSQL.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Заголовок 86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программного модуля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программного модуля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Прямоугольник 31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178560" y="1156320"/>
            <a:ext cx="9720360" cy="34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Логика работы модуля дообучения: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Сбор новых пользовательских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Формирование датасета;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Токенизация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Fine-tuning модели RuBERT;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Оценка качества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Сохранение новой версии;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Логирование результатов в MLflow.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реализации: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использование GPU-ускорения;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автоматическое сохранение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Early Stopping;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метрик качества;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асинхронный запуск задач.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Безопасность и надежность: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обезличивание логов;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доступа администратора;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журналирование операций;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версионирование моделей;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возможность отката к предыдущей версии.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Заголовок 87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№7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Описание сущностей и бизнес-логики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Прямоугольник 34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178560" y="1156320"/>
            <a:ext cx="9720360" cy="32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сущности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Пользовательские сущности: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пользователи;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сессии;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история;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избранное;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уведомления.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Контент и каталог: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контент;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категории;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лицензии;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отзывы;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заявки_на_закупку.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Интеллектуальные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нейросетевые_модели;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наборы_данных;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внешние_источники;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логи.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Заголовок 88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№7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ER-модель базы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Прямоугольник 35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" name=""/>
          <p:cNvPicPr/>
          <p:nvPr/>
        </p:nvPicPr>
        <p:blipFill>
          <a:blip r:embed="rId1"/>
          <a:stretch/>
        </p:blipFill>
        <p:spPr>
          <a:xfrm>
            <a:off x="621000" y="1049760"/>
            <a:ext cx="8836920" cy="4145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Заголовок 89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№7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Безопасность и целостность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Прямоугольник 37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78560" y="1156320"/>
            <a:ext cx="972036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Обеспечение безопасности БД: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пользовательских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hash-паролей;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персональных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доступа к таблицам.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Обеспечение целостности: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Primary Key;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Foreign Key;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ограничения NOT NULL;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каскадные связи;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транзакционная обработка.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Мониторинг и аудит: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журналирование действий;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логов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отслеживание изменений моделей;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операций администраторов.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Заголовок 90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№8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реляционной СУБД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Прямоугольник 38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5938560" y="1156320"/>
            <a:ext cx="972036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Выбранная СУБД: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PostgreSQL 16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сложных SQL-запросов;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расширенные аналитические функции;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работа с JSONB;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высокая надёжность;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транзакций ACID;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совместимость с ML/NLP-сервисами;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масштабируемость.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Используемый язык запросов: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SQL:2016;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PL/pgSQL;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CTE-запросы;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оконные функции;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JSON-операторы.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180000" y="1156320"/>
            <a:ext cx="4498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реляционных СУБД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"/>
          <p:cNvGraphicFramePr/>
          <p:nvPr/>
        </p:nvGraphicFramePr>
        <p:xfrm>
          <a:off x="271800" y="1417320"/>
          <a:ext cx="4041000" cy="1905480"/>
        </p:xfrm>
        <a:graphic>
          <a:graphicData uri="http://schemas.openxmlformats.org/drawingml/2006/table">
            <a:tbl>
              <a:tblPr/>
              <a:tblGrid>
                <a:gridCol w="1069560"/>
                <a:gridCol w="1417320"/>
                <a:gridCol w="155448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СУБД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Преимущества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Недостатки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MySQL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простота, популярность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слабее аналитические возможности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MS SQL Server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мощные enterprise-инструменты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высокая стоимость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PostgreSQL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JSONB, расширяемость, высокая производительность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сложнее администрирование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Заголовок 91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№8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Структура реализованной базы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Прямоугольник 40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1"/>
          <a:stretch/>
        </p:blipFill>
        <p:spPr>
          <a:xfrm>
            <a:off x="1260000" y="1101600"/>
            <a:ext cx="7558920" cy="4114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Заголовок 93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№9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Клиентская и серверная инфраструктура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Прямоугольник 44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178560" y="1156320"/>
            <a:ext cx="97203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Клиентское оборудование: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Минимальные требования: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CPU: Intel Core i3 / Ryzen 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RAM: 8 ГБ DDR4;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SSD: 256 ГБ;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Gigabit Ethernet / Wi-Fi 5/6;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 Full HD.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Особенности клиентской части: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web-интерфейс React;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работа через браузер;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тонких клиентов;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минимальная локальная нагрузка.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4858560" y="1156680"/>
            <a:ext cx="9720360" cy="24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Серверная 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Основные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балансировщики нагрузки;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Kubernetes Worker Nodes;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GPU-серверы NLP;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S3-хранилище;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серверы мониторинга.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Архитектурные принципы: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горизонтальное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контейнеризация;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отказоустойчивость;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распределённое хранение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Заголовок 94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№9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Высокопроизводительная архитектура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Прямоугольник 46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178560" y="1156320"/>
            <a:ext cx="972036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Серверы приложений: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Kubernetes Cluster: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- 4 worker-узла;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- 32 физических ядра;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- 128 ГБ ECC RAM;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NVMe RAID 1;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сеть 25 GbE.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Кластер PostgreSQL: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Patroni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Primary + Replica;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RAID 10 NVMe;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ACID-транзакции;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репликация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4680000" y="1156320"/>
            <a:ext cx="5398200" cy="19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NLP-инфраструктура: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GPU-серверы: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NVIDIA A10 / A40;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PyTorch + Transformers;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пакетная обработка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ускорение инференса BERT-моделей.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Хранилище мультимедиа: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Ceph S3 Storage;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репликация replica=3;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видео/аудио;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масштабируемое объектное хранилище.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Заголовок 95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№9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Сетевая инфраструктура и безопасность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Прямоугольник 48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178560" y="1156320"/>
            <a:ext cx="9720360" cy="31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Сетевое оборудование: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Сетевое ядро: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коммутаторы 100 GbE;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MLAG;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- 25 GbE uplinks;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оптоволоконная инфраструктура.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периметра: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NGFW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TLS 1.3 inspection;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 для администраторов;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сегментация 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Bastion Host.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Отказоустойчивость: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резервирование каналов;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RAID-массивы;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standby-узлы;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резервное копирование;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кластеризация сервисов.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Заголовок 96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№10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Создание виртуального стенда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среды виртуализации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Прямоугольник 52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178560" y="1156320"/>
            <a:ext cx="9720360" cy="41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платформ виртуализации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Выбранная платформа: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Oracle VM VirtualBox 7.0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свободная лицензия;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snapshots;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Host-Only и Internal Network;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кроссплатформенность;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достаточная производительность;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удобство для учебного стенда.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 виртуального стенда: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моделирование инфраструктуры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микросервисов;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проверка сетевого взаимодействия;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БД и NLP-модулей;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отработка механизмов безопасности.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6" name=""/>
          <p:cNvGraphicFramePr/>
          <p:nvPr/>
        </p:nvGraphicFramePr>
        <p:xfrm>
          <a:off x="269640" y="1439640"/>
          <a:ext cx="4082400" cy="1285560"/>
        </p:xfrm>
        <a:graphic>
          <a:graphicData uri="http://schemas.openxmlformats.org/drawingml/2006/table">
            <a:tbl>
              <a:tblPr/>
              <a:tblGrid>
                <a:gridCol w="1474200"/>
                <a:gridCol w="1326240"/>
                <a:gridCol w="128232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Платформа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Преимущества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Недостатки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Oracle VM VirtualBox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Бесплатность, snapshots, гибкие сети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Немного ниже производительность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VMware Workstation Pro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Высокая производительность, vTPM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Ограничения лицензирования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Заголовок 97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№10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Создание виртуального стенда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виртуального стенда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Прямоугольник 54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178560" y="1156320"/>
            <a:ext cx="972036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Структура виртуальной инфраструктуры: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VM1 — db-search-srv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MinIO Storage.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IP: 192.168.56.10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VM2 — app-nlp-srv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Nginx;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NLP-модель RuBERT;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REST 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IP: 192.168.56.20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VM3 — client-ws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Ubuntu Desktop;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браузерный доступ;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тестирование интерфейса.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IP: 192.168.56.30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4680000" y="1156320"/>
            <a:ext cx="41385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Сетевое взаимодействие: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Host-Only Network;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изолированный сегмент 192.168.56.0/24;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REST/gRPC взаимодействие;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HTTPS-доступ к 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"/>
          <p:cNvPicPr/>
          <p:nvPr/>
        </p:nvPicPr>
        <p:blipFill>
          <a:blip r:embed="rId1"/>
          <a:stretch/>
        </p:blipFill>
        <p:spPr>
          <a:xfrm>
            <a:off x="2412000" y="2116800"/>
            <a:ext cx="6046560" cy="3029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Заголовок 98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№10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Создание виртуального стенда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Результаты развертывания и безопасность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Прямоугольник 56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178560" y="1156320"/>
            <a:ext cx="9720360" cy="24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14;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Elasticsearch 8.x;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MinIO;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Swagger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NLP-инференс RuBERT.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Проверка работоспособности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успешный запуск всех ВМ;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доступность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тестовые SQL-запросы;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проверка сетевой связности;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NLP-модуля.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" name=""/>
          <p:cNvPicPr/>
          <p:nvPr/>
        </p:nvPicPr>
        <p:blipFill>
          <a:blip r:embed="rId1"/>
          <a:stretch/>
        </p:blipFill>
        <p:spPr>
          <a:xfrm>
            <a:off x="3024000" y="1548000"/>
            <a:ext cx="2878560" cy="253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6" name=""/>
          <p:cNvPicPr/>
          <p:nvPr/>
        </p:nvPicPr>
        <p:blipFill>
          <a:blip r:embed="rId2"/>
          <a:stretch/>
        </p:blipFill>
        <p:spPr>
          <a:xfrm>
            <a:off x="5976000" y="2750400"/>
            <a:ext cx="3382560" cy="2392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"/>
          <p:cNvPicPr/>
          <p:nvPr/>
        </p:nvPicPr>
        <p:blipFill>
          <a:blip r:embed="rId3"/>
          <a:stretch/>
        </p:blipFill>
        <p:spPr>
          <a:xfrm>
            <a:off x="5148000" y="180000"/>
            <a:ext cx="2878560" cy="253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Заголовок 99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Web-портала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Web-портала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Прямоугольник 58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178560" y="1156320"/>
            <a:ext cx="972036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 портала: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Web-портал предназначен для: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взаимодействия пользователей с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интеллектуального поиска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отображения аналитики;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мониторинга результатов работы системы.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Архитектура решения: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Frontend-компоненты: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HTML5;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CSS3;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JavaScript ES6.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возможности: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адаптивный интерфейс;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SPA-подход (Single Page Application);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динамическое обновление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фильтрация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пагинация результатов;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отображение статистики АСУ.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Разделы портала: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 системе;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Результаты работы АСУ.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1" name=""/>
          <p:cNvPicPr/>
          <p:nvPr/>
        </p:nvPicPr>
        <p:blipFill>
          <a:blip r:embed="rId1"/>
          <a:stretch/>
        </p:blipFill>
        <p:spPr>
          <a:xfrm>
            <a:off x="3420000" y="1493280"/>
            <a:ext cx="6633360" cy="317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Заголовок 100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Web-портала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интерфейса и поиска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Прямоугольник 60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178560" y="1156320"/>
            <a:ext cx="9720360" cy="31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Вкладка «Поиск контента»: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поиск по ключевым словам;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фильтрация по типу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постраничная навигация;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динамическое обновление карточек;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обработка пустых результатов.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Типы поддерживаемого контента: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книги;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видеокурсы;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аудиокниги;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подкасты;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образовательные материалы.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Использованные технологии: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CSS Grid Layout;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JavaScript DOM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EventListener;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динамический рендеринг HTML.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"/>
          <p:cNvPicPr/>
          <p:nvPr/>
        </p:nvPicPr>
        <p:blipFill>
          <a:blip r:embed="rId1"/>
          <a:stretch/>
        </p:blipFill>
        <p:spPr>
          <a:xfrm>
            <a:off x="3420000" y="1492920"/>
            <a:ext cx="6633360" cy="3177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Заголовок 101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Web-портала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Аналитика и безопасность портала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Прямоугольник 62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178560" y="1156320"/>
            <a:ext cx="9720360" cy="36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Раздел «Результаты работы»: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Отображаемые показатели: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количество обработанных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точность NLP-модели;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объём базы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количество заявок на закупку;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 пользовательских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Элементы информационной безопасности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доступа;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журналирование действий;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HTTPS/TLS;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безопасная обработка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Интеграция с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Web-портал взаимодействует с: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NLP-модулем;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FastAPI backend;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системой аналитики.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9" name=""/>
          <p:cNvPicPr/>
          <p:nvPr/>
        </p:nvPicPr>
        <p:blipFill>
          <a:blip r:embed="rId1"/>
          <a:stretch/>
        </p:blipFill>
        <p:spPr>
          <a:xfrm>
            <a:off x="3420000" y="1492920"/>
            <a:ext cx="6651720" cy="318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Заголовок 102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Веб-модуль управления базой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программного модуля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Прямоугольник 63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178920" y="1156680"/>
            <a:ext cx="9720360" cy="41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Разработан веб-модуль: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«Менеджер контента»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управление каталогом мультимедиа;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добавление новых материалов;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редактирование записей;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удаление устаревших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Архитектура решения: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Серверная часть: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Flask (Python);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psycopg2;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Клиентская часть: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HTML + Jinja2;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CSS;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JavaScript.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VM2 — Flask Application;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VM1 — PostgreSQL Server;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REST/HTTP взаимодействие;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транзакционная обработка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Используемая таблица БД: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content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Заголовок 103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Веб-модуль управления базой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CRUD-операций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Прямоугольник 64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178560" y="1156320"/>
            <a:ext cx="972036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CREATE;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READ;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UPDATE;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DELETE.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Возможности интерфейса: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таблица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поисковая строка;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формы добавления/редактирования;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flash-сообщения;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подтверждение удаления.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реализации: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работа через транзакции;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rollback при ошибках;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динамическое обновление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фильтрация через ILIKE.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"/>
          <p:cNvPicPr/>
          <p:nvPr/>
        </p:nvPicPr>
        <p:blipFill>
          <a:blip r:embed="rId1"/>
          <a:stretch/>
        </p:blipFill>
        <p:spPr>
          <a:xfrm>
            <a:off x="2858760" y="1260000"/>
            <a:ext cx="4771800" cy="215856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177" name=""/>
          <p:cNvPicPr/>
          <p:nvPr/>
        </p:nvPicPr>
        <p:blipFill>
          <a:blip r:embed="rId2"/>
          <a:srcRect l="0" t="0" r="70061" b="26667"/>
          <a:stretch/>
        </p:blipFill>
        <p:spPr>
          <a:xfrm>
            <a:off x="3384000" y="3492360"/>
            <a:ext cx="1459440" cy="161820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178" name=""/>
          <p:cNvPicPr/>
          <p:nvPr/>
        </p:nvPicPr>
        <p:blipFill>
          <a:blip r:embed="rId3"/>
          <a:srcRect l="0" t="0" r="70495" b="26700"/>
          <a:stretch/>
        </p:blipFill>
        <p:spPr>
          <a:xfrm>
            <a:off x="5240880" y="3493080"/>
            <a:ext cx="1438200" cy="161748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Заголовок 104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Веб-модуль управления базой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Безопасность и результаты работы модуля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Прямоугольник 65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178560" y="1156320"/>
            <a:ext cx="972036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Механизмы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параметризованные SQL-запросы;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от SQL-инъекций;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транзакционная обработка;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журналирование изменений.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Контроль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серверная обработка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валидация пользовательского ввода;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подтверждение удаления записей.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Результаты тестирования: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успешное подключение к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корректная работа CRUD;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обновление данных в реальном времени;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стабильная работа Flask-приложения;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успешная интеграция с виртуальным стендом.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"/>
          <p:cNvPicPr/>
          <p:nvPr/>
        </p:nvPicPr>
        <p:blipFill>
          <a:blip r:embed="rId1"/>
          <a:stretch/>
        </p:blipFill>
        <p:spPr>
          <a:xfrm>
            <a:off x="3578760" y="1156320"/>
            <a:ext cx="4699800" cy="212616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183" name=""/>
          <p:cNvPicPr/>
          <p:nvPr/>
        </p:nvPicPr>
        <p:blipFill>
          <a:blip r:embed="rId2"/>
          <a:stretch/>
        </p:blipFill>
        <p:spPr>
          <a:xfrm>
            <a:off x="5040000" y="2712600"/>
            <a:ext cx="4519800" cy="214596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Заголовок 105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информационной безопасности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Схема компьютерной сети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Прямоугольник 66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"/>
          <p:cNvPicPr/>
          <p:nvPr/>
        </p:nvPicPr>
        <p:blipFill>
          <a:blip r:embed="rId1"/>
          <a:stretch/>
        </p:blipFill>
        <p:spPr>
          <a:xfrm>
            <a:off x="1624320" y="1041120"/>
            <a:ext cx="6832080" cy="4164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Заголовок 106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информационной безопасности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Угрозы рабочих станций и хранения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Прямоугольник 67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178560" y="1156320"/>
            <a:ext cx="972036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Угрозы безопасности рабочих станций: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Несанкционированный доступ: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доступ к разблокированному устройству;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учётных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утечка истории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Вредоносное ПО: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вирусы;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spyware;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ransomware;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keylogger-атаки.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Уязвимости ПО: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необновлённые браузеры;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уязвимости ОС;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эксплуатация клиентских компонентов.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Социальная инженерия: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фишинговые сайты;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поддельные формы авторизации;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паролей.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Утечка локальных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cookie-файлы;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сохранённые пароли;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кэш мультимедиа;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токены сессий.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4680000" y="1156320"/>
            <a:ext cx="35992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Возможные последствия: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компрометация ПДн;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несанкционированный доступ к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утечка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нарушение требований ФЗ-152.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Заголовок 107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информационной безопасности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Угрозы передачи данных и сетевой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Прямоугольник 68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178560" y="1156320"/>
            <a:ext cx="972036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Сетевые угрозы: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Перехват трафика: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packet sniffing;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анализ незашифрованного трафика;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кража cookie и токенов.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Man-in-the-Middle (MitM):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подмена ответов сервера;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перехват HTTPS-сессий;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перенаправление пользователей.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Атаки на инфраструктуру: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DoS/DDoS;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SQL-инъекции;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XSS;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Remote Code Execution.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Нарушение сегментации сети: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lateral movement;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доступ к внутренним сервисам;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PostgreSQL и NLP-моделей.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Уязвимости удалённого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небезопасный VPN;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устаревшие протоколы;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слабые ключи шифрования.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Заголовок 108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информации на рабочих станциях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Прямоугольник 69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178560" y="1156320"/>
            <a:ext cx="97203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Рабочие станции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Категории пользователей: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администратор;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контент-менеджер;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руководитель отдела.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Обрабатываемая информация: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персональные данные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история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данные о закупках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служебные отчёты;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учётные данные сотрудников.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680000" y="1156320"/>
            <a:ext cx="467892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угрозы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Вредоносное ПО: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фишинг;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заражённые вложения;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ransomware;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трояны и spyware.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Несанкционированный доступ: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кража ноутбука;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оставленная без блокировки сессия;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подбор паролей.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Утечка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USB-накопители;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облачные сервисы;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электронная почта.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Сетевые атаки: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MITM;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эксплуатация уязвимостей;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удалённое управление.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Последствия угроз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нарушение ФЗ-152;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ПДн;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потеря доступности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утечка коммерческой информации.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Заголовок 109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информации на рабочих станциях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Сравнение средств защиты информации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Прямоугольник 70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178560" y="1156320"/>
            <a:ext cx="9720360" cy="34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Endpoint Protection решений: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Критерии сравнения: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антивирусная защита;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USB;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шифрование диска;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централизованное управление;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от ransomware;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сертификация ФСТЭК;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совместимость с Windows 10/11.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4680000" y="1156320"/>
            <a:ext cx="323892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Выбранное решение: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Kaspersky Endpoint Security for Business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встроенное шифрование;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поведенческий анализ;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от шифровальщиков;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единая консоль управления;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с BitLocker;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сертификация ФСТЭК.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2" name=""/>
          <p:cNvGraphicFramePr/>
          <p:nvPr/>
        </p:nvGraphicFramePr>
        <p:xfrm>
          <a:off x="242280" y="1472400"/>
          <a:ext cx="3193560" cy="1357920"/>
        </p:xfrm>
        <a:graphic>
          <a:graphicData uri="http://schemas.openxmlformats.org/drawingml/2006/table">
            <a:tbl>
              <a:tblPr/>
              <a:tblGrid>
                <a:gridCol w="1223280"/>
                <a:gridCol w="197064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Решение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Особенности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Kaspersky Endpoint Security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максимальный функционал и централизованное управление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Dr.Web Enterprise Security Suite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низкая ресурсоёмкость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ViPNet Endpoint Protection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усиленная сетевая защита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Заголовок 110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информации на рабочих станциях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защиты рабочих станций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Прямоугольник 71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178560" y="1156320"/>
            <a:ext cx="9720360" cy="31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механизмы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конечных устройств: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антивирусная защита;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System Watcher;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персональный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Device Control;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Full Disk Encryption.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Контроль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RBAC;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двухфакторная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Windows Hello;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автоматическая блокировка сеанса.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Централизованное управление: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Kaspersky Security Center;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обновление сигнатур;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аудит событий;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мониторинг инцидентов;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централизованные политики.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Заголовок 111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передачи данных в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сетевой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Прямоугольник 72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178560" y="1156320"/>
            <a:ext cx="97203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угрозы передачи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Внешние угрозы: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MitM-атаки;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перехват трафика;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сканирование портов;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эксплуатация уязвимостей;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сетевые атаки на 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Внутренние угрозы: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прослушивание сервисного трафика;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несанкционированный доступ между микросервисами;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учётных записей;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перехват резервных копий.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4680000" y="1156320"/>
            <a:ext cx="431892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Требования к защите сети: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конфиденциальность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аутентификация узлов;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внутренних сервисов;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шифрование каналов;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централизованный аудит;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сегментация 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инфраструктуры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микросервисная архитектура;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Kubernetes-кластер;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REST/gRPC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VPN-доступ администраторов.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Заголовок 112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передачи данных в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средств защиты передачи информации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Прямоугольник 73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178560" y="1156320"/>
            <a:ext cx="9720360" cy="41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решений: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Выбранные технологии защиты: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TLS 1.3 / HTTPS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от MitM;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Perfect Forward Secrecy;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сертификаты доверенного центра.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Istio Service Mesh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mTLS между сервисами;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сервисная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ротация сертификатов;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политики авторизации.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WireGuard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защищённая синхронизация;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 между ЦОД;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минимальная поверхность атаки.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3" name=""/>
          <p:cNvGraphicFramePr/>
          <p:nvPr/>
        </p:nvGraphicFramePr>
        <p:xfrm>
          <a:off x="244440" y="1424880"/>
          <a:ext cx="3560760" cy="1502640"/>
        </p:xfrm>
        <a:graphic>
          <a:graphicData uri="http://schemas.openxmlformats.org/drawingml/2006/table">
            <a:tbl>
              <a:tblPr/>
              <a:tblGrid>
                <a:gridCol w="1568160"/>
                <a:gridCol w="199296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Средство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Назначение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TLS 1.3 / HTTPS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защита web-трафика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NGFW ViPNet Coordinator HW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защита сетевого периметра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Istio Service Mesh (mTLS)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защита микросервисов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WireGuard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защищённые VPN-каналы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SSHv2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безопасное администрирование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Заголовок 113"/>
          <p:cNvSpPr/>
          <p:nvPr/>
        </p:nvSpPr>
        <p:spPr>
          <a:xfrm>
            <a:off x="210240" y="334080"/>
            <a:ext cx="810072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передачи данных в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защищённой передачи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Прямоугольник 74"/>
          <p:cNvSpPr/>
          <p:nvPr/>
        </p:nvSpPr>
        <p:spPr>
          <a:xfrm>
            <a:off x="360" y="5229360"/>
            <a:ext cx="10076760" cy="24588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178560" y="1156320"/>
            <a:ext cx="972036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Реализованная security-архитектура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Внешний периметр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NGFW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TLS 1.3 termination;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VPN-доступ администраторов;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сегментация 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Внутренний контур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Istio mTLS;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сервисная авторизация;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sidecar-прокси;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Zero Trust взаимодействие.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Администрирование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SSHv2;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Bastion Host;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изолированный management-сегмент;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централизованный аудит.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Заголовок 68"/>
          <p:cNvSpPr/>
          <p:nvPr/>
        </p:nvSpPr>
        <p:spPr>
          <a:xfrm>
            <a:off x="3745080" y="2278080"/>
            <a:ext cx="6943680" cy="30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6240" rIns="178560" tIns="54000" bIns="89280" anchor="ctr">
            <a:noAutofit/>
          </a:bodyPr>
          <a:p>
            <a:pPr defTabSz="684360">
              <a:lnSpc>
                <a:spcPct val="100000"/>
              </a:lnSpc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Заголовок 69"/>
          <p:cNvSpPr/>
          <p:nvPr/>
        </p:nvSpPr>
        <p:spPr>
          <a:xfrm>
            <a:off x="302760" y="2390400"/>
            <a:ext cx="5344200" cy="11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2600">
              <a:lnSpc>
                <a:spcPct val="90000"/>
              </a:lnSpc>
            </a:pPr>
            <a:r>
              <a:rPr lang="ru-RU" sz="259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Спасибо</a:t>
            </a:r>
            <a:endParaRPr lang="ru-RU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2600">
              <a:lnSpc>
                <a:spcPct val="90000"/>
              </a:lnSpc>
            </a:pPr>
            <a:r>
              <a:rPr lang="ru-RU" sz="259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за внимание!</a:t>
            </a:r>
            <a:endParaRPr lang="ru-RU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Текст 4"/>
          <p:cNvSpPr/>
          <p:nvPr/>
        </p:nvSpPr>
        <p:spPr>
          <a:xfrm>
            <a:off x="5650200" y="4109400"/>
            <a:ext cx="628164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684360">
              <a:lnSpc>
                <a:spcPct val="90000"/>
              </a:lnSpc>
              <a:spcBef>
                <a:spcPts val="748"/>
              </a:spcBef>
              <a:tabLst>
                <a:tab algn="l" pos="0"/>
              </a:tabLst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20" name="Группа 5"/>
          <p:cNvGrpSpPr/>
          <p:nvPr/>
        </p:nvGrpSpPr>
        <p:grpSpPr>
          <a:xfrm>
            <a:off x="396720" y="4254840"/>
            <a:ext cx="5351760" cy="1324800"/>
            <a:chOff x="396720" y="4254840"/>
            <a:chExt cx="5351760" cy="1324800"/>
          </a:xfrm>
        </p:grpSpPr>
        <p:sp>
          <p:nvSpPr>
            <p:cNvPr id="221" name="PlaceHolder 1"/>
            <p:cNvSpPr/>
            <p:nvPr/>
          </p:nvSpPr>
          <p:spPr>
            <a:xfrm>
              <a:off x="396720" y="4254840"/>
              <a:ext cx="5351760" cy="244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r>
                <a:rPr lang="ru-RU" sz="1400" b="1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Враженко Даниил Олеегович</a:t>
              </a: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r>
                <a:rPr lang="ru-RU" sz="1400" b="1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ИКБО-50-23</a:t>
              </a: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2" name="PlaceHolder 3"/>
            <p:cNvSpPr/>
            <p:nvPr/>
          </p:nvSpPr>
          <p:spPr>
            <a:xfrm>
              <a:off x="396720" y="4738320"/>
              <a:ext cx="5351760" cy="841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endPara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endPara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итульный слайд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Классическая 2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кст картинка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иаграммы">
  <a:themeElements>
    <a:clrScheme name="тема для слайдов с диаграммами">
      <a:dk1>
        <a:srgbClr val="414042"/>
      </a:dk1>
      <a:lt1>
        <a:srgbClr val="ffffff"/>
      </a:lt1>
      <a:dk2>
        <a:srgbClr val="ffffff"/>
      </a:dk2>
      <a:lt2>
        <a:srgbClr val="ffffff"/>
      </a:lt2>
      <a:accent1>
        <a:srgbClr val="293d6d"/>
      </a:accent1>
      <a:accent2>
        <a:srgbClr val="456ea9"/>
      </a:accent2>
      <a:accent3>
        <a:srgbClr val="68b0e0"/>
      </a:accent3>
      <a:accent4>
        <a:srgbClr val="acc44d"/>
      </a:accent4>
      <a:accent5>
        <a:srgbClr val="4c9d8d"/>
      </a:accent5>
      <a:accent6>
        <a:srgbClr val="7f7f7f"/>
      </a:accent6>
      <a:hlink>
        <a:srgbClr val="414042"/>
      </a:hlink>
      <a:folHlink>
        <a:srgbClr val="41404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кст диаграмма">
  <a:themeElements>
    <a:clrScheme name="тема для слайдов текст-диаграмма">
      <a:dk1>
        <a:srgbClr val="414042"/>
      </a:dk1>
      <a:lt1>
        <a:srgbClr val="ffffff"/>
      </a:lt1>
      <a:dk2>
        <a:srgbClr val="ffffff"/>
      </a:dk2>
      <a:lt2>
        <a:srgbClr val="ffffff"/>
      </a:lt2>
      <a:accent1>
        <a:srgbClr val="eba444"/>
      </a:accent1>
      <a:accent2>
        <a:srgbClr val="f06942"/>
      </a:accent2>
      <a:accent3>
        <a:srgbClr val="ad5483"/>
      </a:accent3>
      <a:accent4>
        <a:srgbClr val="456ea9"/>
      </a:accent4>
      <a:accent5>
        <a:srgbClr val="68b0e0"/>
      </a:accent5>
      <a:accent6>
        <a:srgbClr val="259789"/>
      </a:accent6>
      <a:hlink>
        <a:srgbClr val="414042"/>
      </a:hlink>
      <a:folHlink>
        <a:srgbClr val="41404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Presentation_16x9_white_template</Template>
  <TotalTime>3951</TotalTime>
  <Application>LibreOffice/25.8.6.2$Windows_X86_64 LibreOffice_project/b4b39682cd9868fa725bc664aff94278d315bd04</Application>
  <AppVersion>15.0000</AppVersion>
  <Words>2753</Words>
  <Paragraphs>540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2019-09-24T12:37:05Z</dcterms:created>
  <dc:creator>Анна Хомякова</dc:creator>
  <dc:description/>
  <dc:language>ru-RU</dc:language>
  <cp:lastModifiedBy/>
  <cp:lastPrinted>2022-09-21T09:50:13Z</cp:lastPrinted>
  <dcterms:modified xsi:type="dcterms:W3CDTF">2026-06-05T09:12:23Z</dcterms:modified>
  <cp:revision>388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Произвольный</vt:lpwstr>
  </property>
  <property fmtid="{D5CDD505-2E9C-101B-9397-08002B2CF9AE}" pid="4" name="Slides">
    <vt:i4>70</vt:i4>
  </property>
</Properties>
</file>